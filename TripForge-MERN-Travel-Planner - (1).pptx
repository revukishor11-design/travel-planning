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8288000" cy="10287000"/>
  <p:notesSz cx="6858000" cy="9144000"/>
  <p:embeddedFontLst>
    <p:embeddedFont>
      <p:font typeface="Petrona Bold"/>
      <p:bold r:id="rId15"/>
    </p:embeddedFont>
    <p:embeddedFont>
      <p:font typeface="Inter" panose="02000503000000020004"/>
      <p:regular r:id="rId16"/>
    </p:embeddedFont>
    <p:embeddedFont>
      <p:font typeface="Calibri" panose="020F050202020403020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jpe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3746583"/>
            <a:ext cx="16315868" cy="96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5"/>
              </a:lnSpc>
            </a:pPr>
            <a:r>
              <a:rPr lang="en-US" sz="5855" b="1" spc="-117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TripForge — MERN Travel Planner</a:t>
            </a:r>
            <a:endParaRPr lang="en-US" sz="5855" b="1" spc="-117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2991" y="5207013"/>
            <a:ext cx="16315868" cy="3119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One-line idea: Collaborative itinerary builder with integrated expense tracking for smarter trips. 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Team: 3 developers — frontend, backend, and devops. Audience: Hackathon judges &amp; technical peers.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algn="l">
              <a:lnSpc>
                <a:spcPts val="3475"/>
              </a:lnSpc>
            </a:pP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algn="l">
              <a:lnSpc>
                <a:spcPts val="3475"/>
              </a:lnSpc>
            </a:pPr>
            <a:r>
              <a:rPr lang="en-IN" alt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KISHOR  R</a:t>
            </a:r>
            <a:br>
              <a:rPr lang="en-IN" alt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</a:br>
            <a:r>
              <a:rPr lang="en-IN" alt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PRADEEP  A</a:t>
            </a:r>
            <a:br>
              <a:rPr lang="en-IN" alt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</a:br>
            <a:r>
              <a:rPr lang="en-IN" alt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SANDEEP  T</a:t>
            </a:r>
            <a:br>
              <a:rPr lang="en-IN" alt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</a:br>
            <a:r>
              <a:rPr lang="en-IN" alt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SRIDHAR  CH</a:t>
            </a:r>
            <a:endParaRPr lang="en-IN" alt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"/>
            <a:ext cx="18347690" cy="2462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2625471"/>
            <a:ext cx="16315868" cy="782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5"/>
              </a:lnSpc>
            </a:pPr>
            <a:r>
              <a:rPr lang="en-US" sz="4655" b="1" spc="-94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The Challenge</a:t>
            </a:r>
            <a:endParaRPr lang="en-US" sz="4655" b="1" spc="-94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988219" y="3971153"/>
            <a:ext cx="647890" cy="647910"/>
            <a:chOff x="0" y="0"/>
            <a:chExt cx="863854" cy="86387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3854" cy="863854"/>
            </a:xfrm>
            <a:custGeom>
              <a:avLst/>
              <a:gdLst/>
              <a:ahLst/>
              <a:cxnLst/>
              <a:rect l="l" t="t" r="r" b="b"/>
              <a:pathLst>
                <a:path w="863854" h="863854">
                  <a:moveTo>
                    <a:pt x="0" y="161290"/>
                  </a:moveTo>
                  <a:cubicBezTo>
                    <a:pt x="0" y="72263"/>
                    <a:pt x="72263" y="0"/>
                    <a:pt x="161290" y="0"/>
                  </a:cubicBezTo>
                  <a:lnTo>
                    <a:pt x="702564" y="0"/>
                  </a:lnTo>
                  <a:cubicBezTo>
                    <a:pt x="791591" y="0"/>
                    <a:pt x="863854" y="72263"/>
                    <a:pt x="863854" y="161290"/>
                  </a:cubicBezTo>
                  <a:lnTo>
                    <a:pt x="863854" y="702564"/>
                  </a:lnTo>
                  <a:cubicBezTo>
                    <a:pt x="863854" y="791591"/>
                    <a:pt x="791591" y="863854"/>
                    <a:pt x="702564" y="863854"/>
                  </a:cubicBezTo>
                  <a:lnTo>
                    <a:pt x="161290" y="863854"/>
                  </a:lnTo>
                  <a:cubicBezTo>
                    <a:pt x="72263" y="863854"/>
                    <a:pt x="0" y="791718"/>
                    <a:pt x="0" y="702564"/>
                  </a:cubicBezTo>
                  <a:close/>
                </a:path>
              </a:pathLst>
            </a:custGeom>
            <a:solidFill>
              <a:srgbClr val="2F1D63"/>
            </a:solidFill>
            <a:ln w="9532" cap="sq">
              <a:solidFill>
                <a:srgbClr val="48367C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915077" y="4054288"/>
            <a:ext cx="4280106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Real-world problem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15077" y="4632827"/>
            <a:ext cx="4280106" cy="2346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Travel planning is fragmented — itineraries, budgets, and receipts live across apps and spreadsheets, causing friction and overspend.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6545056" y="3971153"/>
            <a:ext cx="647890" cy="647910"/>
            <a:chOff x="0" y="0"/>
            <a:chExt cx="863854" cy="86387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3854" cy="863854"/>
            </a:xfrm>
            <a:custGeom>
              <a:avLst/>
              <a:gdLst/>
              <a:ahLst/>
              <a:cxnLst/>
              <a:rect l="l" t="t" r="r" b="b"/>
              <a:pathLst>
                <a:path w="863854" h="863854">
                  <a:moveTo>
                    <a:pt x="0" y="161290"/>
                  </a:moveTo>
                  <a:cubicBezTo>
                    <a:pt x="0" y="72263"/>
                    <a:pt x="72263" y="0"/>
                    <a:pt x="161290" y="0"/>
                  </a:cubicBezTo>
                  <a:lnTo>
                    <a:pt x="702564" y="0"/>
                  </a:lnTo>
                  <a:cubicBezTo>
                    <a:pt x="791591" y="0"/>
                    <a:pt x="863854" y="72263"/>
                    <a:pt x="863854" y="161290"/>
                  </a:cubicBezTo>
                  <a:lnTo>
                    <a:pt x="863854" y="702564"/>
                  </a:lnTo>
                  <a:cubicBezTo>
                    <a:pt x="863854" y="791591"/>
                    <a:pt x="791591" y="863854"/>
                    <a:pt x="702564" y="863854"/>
                  </a:cubicBezTo>
                  <a:lnTo>
                    <a:pt x="161290" y="863854"/>
                  </a:lnTo>
                  <a:cubicBezTo>
                    <a:pt x="72263" y="863854"/>
                    <a:pt x="0" y="791718"/>
                    <a:pt x="0" y="702564"/>
                  </a:cubicBezTo>
                  <a:close/>
                </a:path>
              </a:pathLst>
            </a:custGeom>
            <a:solidFill>
              <a:srgbClr val="2F1D63"/>
            </a:solidFill>
            <a:ln w="9532" cap="sq">
              <a:solidFill>
                <a:srgbClr val="48367C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7471915" y="4054288"/>
            <a:ext cx="4280106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Why it matters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471915" y="4632827"/>
            <a:ext cx="4280106" cy="2346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Groups need coordinated schedules and transparent expenses to avoid miscommunication and financial surprises during trips.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15" name="Group 15"/>
          <p:cNvGrpSpPr/>
          <p:nvPr/>
        </p:nvGrpSpPr>
        <p:grpSpPr>
          <a:xfrm rot="0">
            <a:off x="12101884" y="3971153"/>
            <a:ext cx="647890" cy="647910"/>
            <a:chOff x="0" y="0"/>
            <a:chExt cx="863854" cy="86387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63854" cy="863854"/>
            </a:xfrm>
            <a:custGeom>
              <a:avLst/>
              <a:gdLst/>
              <a:ahLst/>
              <a:cxnLst/>
              <a:rect l="l" t="t" r="r" b="b"/>
              <a:pathLst>
                <a:path w="863854" h="863854">
                  <a:moveTo>
                    <a:pt x="0" y="161290"/>
                  </a:moveTo>
                  <a:cubicBezTo>
                    <a:pt x="0" y="72263"/>
                    <a:pt x="72263" y="0"/>
                    <a:pt x="161290" y="0"/>
                  </a:cubicBezTo>
                  <a:lnTo>
                    <a:pt x="702564" y="0"/>
                  </a:lnTo>
                  <a:cubicBezTo>
                    <a:pt x="791591" y="0"/>
                    <a:pt x="863854" y="72263"/>
                    <a:pt x="863854" y="161290"/>
                  </a:cubicBezTo>
                  <a:lnTo>
                    <a:pt x="863854" y="702564"/>
                  </a:lnTo>
                  <a:cubicBezTo>
                    <a:pt x="863854" y="791591"/>
                    <a:pt x="791591" y="863854"/>
                    <a:pt x="702564" y="863854"/>
                  </a:cubicBezTo>
                  <a:lnTo>
                    <a:pt x="161290" y="863854"/>
                  </a:lnTo>
                  <a:cubicBezTo>
                    <a:pt x="72263" y="863854"/>
                    <a:pt x="0" y="791718"/>
                    <a:pt x="0" y="702564"/>
                  </a:cubicBezTo>
                  <a:close/>
                </a:path>
              </a:pathLst>
            </a:custGeom>
            <a:solidFill>
              <a:srgbClr val="2F1D63"/>
            </a:solidFill>
            <a:ln w="9532" cap="sq">
              <a:solidFill>
                <a:srgbClr val="48367C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3028743" y="4054288"/>
            <a:ext cx="4280106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Key challenges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028743" y="4632827"/>
            <a:ext cx="4280106" cy="2998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Synchronizing multi-user itineraries in real time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Capturing expenses with receipts and categorization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Secure role-based access (owner vs guest)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2128152"/>
            <a:ext cx="16315868" cy="782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5"/>
              </a:lnSpc>
            </a:pPr>
            <a:r>
              <a:rPr lang="en-US" sz="4655" b="1" spc="-94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Our Innovation</a:t>
            </a:r>
            <a:endParaRPr lang="en-US" sz="4655" b="1" spc="-94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788641" y="3336655"/>
            <a:ext cx="6519586" cy="4791989"/>
            <a:chOff x="0" y="0"/>
            <a:chExt cx="8692782" cy="63893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92769" cy="6389370"/>
            </a:xfrm>
            <a:custGeom>
              <a:avLst/>
              <a:gdLst/>
              <a:ahLst/>
              <a:cxnLst/>
              <a:rect l="l" t="t" r="r" b="b"/>
              <a:pathLst>
                <a:path w="8692769" h="6389370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8420354" y="0"/>
                  </a:lnTo>
                  <a:cubicBezTo>
                    <a:pt x="8570723" y="0"/>
                    <a:pt x="8692769" y="121920"/>
                    <a:pt x="8692769" y="272415"/>
                  </a:cubicBezTo>
                  <a:lnTo>
                    <a:pt x="8692769" y="6116955"/>
                  </a:lnTo>
                  <a:cubicBezTo>
                    <a:pt x="8692769" y="6267323"/>
                    <a:pt x="8570849" y="6389370"/>
                    <a:pt x="8420354" y="6389370"/>
                  </a:cubicBezTo>
                  <a:lnTo>
                    <a:pt x="272415" y="6389370"/>
                  </a:lnTo>
                  <a:cubicBezTo>
                    <a:pt x="121920" y="6389370"/>
                    <a:pt x="0" y="6267323"/>
                    <a:pt x="0" y="6116955"/>
                  </a:cubicBezTo>
                  <a:close/>
                </a:path>
              </a:pathLst>
            </a:custGeom>
            <a:solidFill>
              <a:srgbClr val="876CD4">
                <a:alpha val="90196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72296" y="3601345"/>
            <a:ext cx="5952115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5"/>
              </a:lnSpc>
            </a:pPr>
            <a:r>
              <a:rPr lang="en-US" sz="2925" b="1" spc="-58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Core Differentiators</a:t>
            </a:r>
            <a:endParaRPr lang="en-US" sz="2925" b="1" spc="-58">
              <a:solidFill>
                <a:srgbClr val="FFFFF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72372" y="4293384"/>
            <a:ext cx="5952115" cy="2998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Unified itinerary + expense model (single source of truth)</a:t>
            </a:r>
            <a:endParaRPr lang="en-US" sz="2175" spc="-45">
              <a:solidFill>
                <a:srgbClr val="00000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Live collaboration with optimistic UI updates</a:t>
            </a:r>
            <a:endParaRPr lang="en-US" sz="2175" spc="-45">
              <a:solidFill>
                <a:srgbClr val="00000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Role-based permissions + lightweight dispute resolution flow</a:t>
            </a:r>
            <a:endParaRPr lang="en-US" sz="2175" spc="-45">
              <a:solidFill>
                <a:srgbClr val="00000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805690" y="3601345"/>
            <a:ext cx="9512551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Key Features</a:t>
            </a:r>
            <a:endParaRPr lang="en-US" sz="2925" b="1" spc="-58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805690" y="4293384"/>
            <a:ext cx="9512551" cy="163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Create/manage destinations, dates, activities, budgets, and expenses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Attach receipt images, auto-categorize via tags (OCR-ready)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Shareable trip links, offline-first React views, and exportable reports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13" name="Group 13"/>
          <p:cNvGrpSpPr/>
          <p:nvPr/>
        </p:nvGrpSpPr>
        <p:grpSpPr>
          <a:xfrm rot="0">
            <a:off x="7805690" y="6249114"/>
            <a:ext cx="9512551" cy="1560347"/>
            <a:chOff x="0" y="0"/>
            <a:chExt cx="12683401" cy="20804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683363" cy="2080387"/>
            </a:xfrm>
            <a:custGeom>
              <a:avLst/>
              <a:gdLst/>
              <a:ahLst/>
              <a:cxnLst/>
              <a:rect l="l" t="t" r="r" b="b"/>
              <a:pathLst>
                <a:path w="12683363" h="2080387">
                  <a:moveTo>
                    <a:pt x="0" y="158877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12524486" y="0"/>
                  </a:lnTo>
                  <a:cubicBezTo>
                    <a:pt x="12612243" y="0"/>
                    <a:pt x="12683363" y="71120"/>
                    <a:pt x="12683363" y="158877"/>
                  </a:cubicBezTo>
                  <a:lnTo>
                    <a:pt x="12683363" y="1921510"/>
                  </a:lnTo>
                  <a:cubicBezTo>
                    <a:pt x="12683363" y="2009267"/>
                    <a:pt x="12612243" y="2080387"/>
                    <a:pt x="12524486" y="2080387"/>
                  </a:cubicBezTo>
                  <a:lnTo>
                    <a:pt x="158877" y="2080387"/>
                  </a:lnTo>
                  <a:cubicBezTo>
                    <a:pt x="71120" y="2080514"/>
                    <a:pt x="0" y="2009267"/>
                    <a:pt x="0" y="1921510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</p:grpSp>
      <p:grpSp>
        <p:nvGrpSpPr>
          <p:cNvPr id="15" name="Group 15"/>
          <p:cNvGrpSpPr/>
          <p:nvPr/>
        </p:nvGrpSpPr>
        <p:grpSpPr>
          <a:xfrm rot="0">
            <a:off x="8089421" y="6679568"/>
            <a:ext cx="354625" cy="283740"/>
            <a:chOff x="0" y="0"/>
            <a:chExt cx="472834" cy="378320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472821" cy="378333"/>
            </a:xfrm>
            <a:custGeom>
              <a:avLst/>
              <a:gdLst/>
              <a:ahLst/>
              <a:cxnLst/>
              <a:rect l="l" t="t" r="r" b="b"/>
              <a:pathLst>
                <a:path w="472821" h="378333">
                  <a:moveTo>
                    <a:pt x="0" y="0"/>
                  </a:moveTo>
                  <a:lnTo>
                    <a:pt x="472821" y="0"/>
                  </a:lnTo>
                  <a:lnTo>
                    <a:pt x="472821" y="378333"/>
                  </a:lnTo>
                  <a:lnTo>
                    <a:pt x="0" y="378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74" r="-676" b="3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8727777" y="6499108"/>
            <a:ext cx="8306724" cy="98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Design focuses on minimal friction: fast CRUD flows and clear ownership of costs.</a:t>
            </a:r>
            <a:endParaRPr lang="en-US" sz="2175" spc="-45">
              <a:solidFill>
                <a:srgbClr val="FFFFFF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936146"/>
            <a:ext cx="16315868" cy="782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5"/>
              </a:lnSpc>
            </a:pPr>
            <a:r>
              <a:rPr lang="en-US" sz="4655" b="1" spc="-94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How It Works</a:t>
            </a:r>
            <a:endParaRPr lang="en-US" sz="4655" b="1" spc="-94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2806941" y="2286600"/>
            <a:ext cx="12687967" cy="5807050"/>
            <a:chOff x="0" y="0"/>
            <a:chExt cx="16917289" cy="7742733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6917288" cy="7742682"/>
            </a:xfrm>
            <a:custGeom>
              <a:avLst/>
              <a:gdLst/>
              <a:ahLst/>
              <a:cxnLst/>
              <a:rect l="l" t="t" r="r" b="b"/>
              <a:pathLst>
                <a:path w="16917288" h="7742682">
                  <a:moveTo>
                    <a:pt x="0" y="0"/>
                  </a:moveTo>
                  <a:lnTo>
                    <a:pt x="16917288" y="0"/>
                  </a:lnTo>
                  <a:lnTo>
                    <a:pt x="16917288" y="7742682"/>
                  </a:lnTo>
                  <a:lnTo>
                    <a:pt x="0" y="7742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0" b="-30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2522194" y="6443215"/>
            <a:ext cx="2382088" cy="982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3000" b="1" spc="-60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Show Itinerary</a:t>
            </a:r>
            <a:endParaRPr lang="en-US" sz="3000" b="1" spc="-60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520114" y="6443215"/>
            <a:ext cx="2382088" cy="982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3000" b="1" spc="-60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Backend Validate</a:t>
            </a:r>
            <a:endParaRPr lang="en-US" sz="3000" b="1" spc="-60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534350" y="6443215"/>
            <a:ext cx="2382088" cy="982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3000" b="1" spc="-60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Add Activities</a:t>
            </a:r>
            <a:endParaRPr lang="en-US" sz="3000" b="1" spc="-60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483321" y="6684131"/>
            <a:ext cx="2382088" cy="500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3000" b="1" spc="-60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Create Trip</a:t>
            </a:r>
            <a:endParaRPr lang="en-US" sz="3000" b="1" spc="-60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92991" y="8336632"/>
            <a:ext cx="16315868" cy="98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User journey (condensed): User creates trip → teammates add activities &amp; receipts → server validates and persists documents → UI shows synchronized itinerary, per-person balances, and exportable summaries.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993354"/>
            <a:ext cx="16315868" cy="782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5"/>
              </a:lnSpc>
            </a:pPr>
            <a:r>
              <a:rPr lang="en-US" sz="4655" b="1" spc="-94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Technology &amp; Algorithm</a:t>
            </a:r>
            <a:endParaRPr lang="en-US" sz="4655" b="1" spc="-94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2991" y="3466548"/>
            <a:ext cx="7811795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Tech stack</a:t>
            </a:r>
            <a:endParaRPr lang="en-US" sz="2925" b="1" spc="-58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92991" y="4158586"/>
            <a:ext cx="7811795" cy="3650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Frontend: React (hooks, context, React Router)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Backend: Node.js + Express.js REST APIs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Database: MongoDB with Mongoose schemas (trips, users, expenses)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Auth: JWT + role-based middleware (owner, editor, viewer)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Deployment: Docker + CI pipeline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506588" y="3466548"/>
            <a:ext cx="7811795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Core algorithms &amp; choices</a:t>
            </a:r>
            <a:endParaRPr lang="en-US" sz="2925" b="1" spc="-58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506588" y="4158586"/>
            <a:ext cx="7811795" cy="4005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Expense split algorithm: proportional and equal-split modes with per-item overrides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Optimistic UI + background reconciliation for low-latency collaboration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Indexing strategy: compound indexes on tripId + date for fast itinerary queries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Why chosen: MERN enables rapid end-to-end development and JSON-native data flow.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674162"/>
            <a:ext cx="16315868" cy="782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5"/>
              </a:lnSpc>
            </a:pPr>
            <a:r>
              <a:rPr lang="en-US" sz="4655" b="1" spc="-94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Demo &amp; Impact</a:t>
            </a:r>
            <a:endParaRPr lang="en-US" sz="4655" b="1" spc="-94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2991" y="3147365"/>
            <a:ext cx="7811795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What we show in demo</a:t>
            </a:r>
            <a:endParaRPr lang="en-US" sz="2925" b="1" spc="-58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92991" y="3839404"/>
            <a:ext cx="7811795" cy="2544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Create trip, add destinations and per-day activities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Add expenses with receipt metadata; view per-person balances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Role-based actions: owner approves refunds, guests propose edits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992991" y="6703095"/>
            <a:ext cx="7811795" cy="1560347"/>
            <a:chOff x="0" y="0"/>
            <a:chExt cx="10415727" cy="20804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15651" cy="2080387"/>
            </a:xfrm>
            <a:custGeom>
              <a:avLst/>
              <a:gdLst/>
              <a:ahLst/>
              <a:cxnLst/>
              <a:rect l="l" t="t" r="r" b="b"/>
              <a:pathLst>
                <a:path w="10415651" h="2080387">
                  <a:moveTo>
                    <a:pt x="0" y="158877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10256774" y="0"/>
                  </a:lnTo>
                  <a:cubicBezTo>
                    <a:pt x="10344531" y="0"/>
                    <a:pt x="10415651" y="71120"/>
                    <a:pt x="10415651" y="158877"/>
                  </a:cubicBezTo>
                  <a:lnTo>
                    <a:pt x="10415651" y="1921510"/>
                  </a:lnTo>
                  <a:cubicBezTo>
                    <a:pt x="10415651" y="2009267"/>
                    <a:pt x="10344531" y="2080387"/>
                    <a:pt x="10256774" y="2080387"/>
                  </a:cubicBezTo>
                  <a:lnTo>
                    <a:pt x="158877" y="2080387"/>
                  </a:lnTo>
                  <a:cubicBezTo>
                    <a:pt x="71120" y="2080514"/>
                    <a:pt x="0" y="2009267"/>
                    <a:pt x="0" y="1921510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1276721" y="7133549"/>
            <a:ext cx="354625" cy="283740"/>
            <a:chOff x="0" y="0"/>
            <a:chExt cx="472834" cy="378320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472821" cy="378333"/>
            </a:xfrm>
            <a:custGeom>
              <a:avLst/>
              <a:gdLst/>
              <a:ahLst/>
              <a:cxnLst/>
              <a:rect l="l" t="t" r="r" b="b"/>
              <a:pathLst>
                <a:path w="472821" h="378333">
                  <a:moveTo>
                    <a:pt x="0" y="0"/>
                  </a:moveTo>
                  <a:lnTo>
                    <a:pt x="472821" y="0"/>
                  </a:lnTo>
                  <a:lnTo>
                    <a:pt x="472821" y="378333"/>
                  </a:lnTo>
                  <a:lnTo>
                    <a:pt x="0" y="378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74" r="-676" b="3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915077" y="6953088"/>
            <a:ext cx="6605968" cy="98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Live demo highlights: sub-second UI updates and consistent expense reconciliation.</a:t>
            </a:r>
            <a:endParaRPr lang="en-US" sz="2175" spc="-45">
              <a:solidFill>
                <a:srgbClr val="FFFFFF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506588" y="3147365"/>
            <a:ext cx="7811795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Practical benefits</a:t>
            </a:r>
            <a:endParaRPr lang="en-US" sz="2925" b="1" spc="-58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506588" y="3839404"/>
            <a:ext cx="7811795" cy="2090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Reduce planning time: single app for schedule + budget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Cut disputes: clear, auditable expense records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Scales from small groups to large itineraries via paginated queries and indexed schema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866300"/>
            <a:ext cx="16315868" cy="782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5"/>
              </a:lnSpc>
            </a:pPr>
            <a:r>
              <a:rPr lang="en-US" sz="4655" b="1" spc="-94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Future Vision &amp; Next Steps</a:t>
            </a:r>
            <a:endParaRPr lang="en-US" sz="4655" b="1" spc="-94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7" name="Freeform 7" descr="preencoded.png"/>
          <p:cNvSpPr/>
          <p:nvPr/>
        </p:nvSpPr>
        <p:spPr>
          <a:xfrm>
            <a:off x="992991" y="3216754"/>
            <a:ext cx="5249418" cy="3946579"/>
          </a:xfrm>
          <a:custGeom>
            <a:avLst/>
            <a:gdLst/>
            <a:ahLst/>
            <a:cxnLst/>
            <a:rect l="l" t="t" r="r" b="b"/>
            <a:pathLst>
              <a:path w="5249418" h="3946579">
                <a:moveTo>
                  <a:pt x="0" y="0"/>
                </a:moveTo>
                <a:lnTo>
                  <a:pt x="5249418" y="0"/>
                </a:lnTo>
                <a:lnTo>
                  <a:pt x="5249418" y="3946579"/>
                </a:lnTo>
                <a:lnTo>
                  <a:pt x="0" y="39465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20" b="-120"/>
            </a:stretch>
          </a:blipFill>
        </p:spPr>
      </p:sp>
      <p:grpSp>
        <p:nvGrpSpPr>
          <p:cNvPr id="8" name="Group 8"/>
          <p:cNvGrpSpPr/>
          <p:nvPr/>
        </p:nvGrpSpPr>
        <p:grpSpPr>
          <a:xfrm rot="0">
            <a:off x="3404930" y="3409636"/>
            <a:ext cx="425520" cy="532028"/>
            <a:chOff x="0" y="0"/>
            <a:chExt cx="567360" cy="7093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7365" cy="709372"/>
            </a:xfrm>
            <a:custGeom>
              <a:avLst/>
              <a:gdLst/>
              <a:ahLst/>
              <a:cxnLst/>
              <a:rect l="l" t="t" r="r" b="b"/>
              <a:pathLst>
                <a:path w="567365" h="709372">
                  <a:moveTo>
                    <a:pt x="0" y="0"/>
                  </a:moveTo>
                  <a:lnTo>
                    <a:pt x="567365" y="0"/>
                  </a:lnTo>
                  <a:lnTo>
                    <a:pt x="567365" y="709372"/>
                  </a:lnTo>
                  <a:lnTo>
                    <a:pt x="0" y="7093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17" r="-11041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567360" cy="7188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5"/>
                </a:lnSpc>
              </a:pPr>
              <a:r>
                <a:rPr lang="en-US" sz="3300" b="1" spc="-67">
                  <a:solidFill>
                    <a:srgbClr val="E0D6DE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1</a:t>
              </a:r>
              <a:endParaRPr lang="en-US" sz="3300" b="1" spc="-67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14850" y="4370794"/>
            <a:ext cx="4605699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Short-term roadmap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14850" y="4949333"/>
            <a:ext cx="4605699" cy="1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Finish OCR receipt parsing, add push notifications, and implement currency conversion microservice.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" name="Freeform 13" descr="preencoded.png"/>
          <p:cNvSpPr/>
          <p:nvPr/>
        </p:nvSpPr>
        <p:spPr>
          <a:xfrm>
            <a:off x="6526139" y="3216754"/>
            <a:ext cx="5249418" cy="3946579"/>
          </a:xfrm>
          <a:custGeom>
            <a:avLst/>
            <a:gdLst/>
            <a:ahLst/>
            <a:cxnLst/>
            <a:rect l="l" t="t" r="r" b="b"/>
            <a:pathLst>
              <a:path w="5249418" h="3946579">
                <a:moveTo>
                  <a:pt x="0" y="0"/>
                </a:moveTo>
                <a:lnTo>
                  <a:pt x="5249418" y="0"/>
                </a:lnTo>
                <a:lnTo>
                  <a:pt x="5249418" y="3946579"/>
                </a:lnTo>
                <a:lnTo>
                  <a:pt x="0" y="39465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20" b="-120"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8938079" y="3409636"/>
            <a:ext cx="425520" cy="532028"/>
            <a:chOff x="0" y="0"/>
            <a:chExt cx="567360" cy="70937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67365" cy="709372"/>
            </a:xfrm>
            <a:custGeom>
              <a:avLst/>
              <a:gdLst/>
              <a:ahLst/>
              <a:cxnLst/>
              <a:rect l="l" t="t" r="r" b="b"/>
              <a:pathLst>
                <a:path w="567365" h="709372">
                  <a:moveTo>
                    <a:pt x="0" y="0"/>
                  </a:moveTo>
                  <a:lnTo>
                    <a:pt x="567365" y="0"/>
                  </a:lnTo>
                  <a:lnTo>
                    <a:pt x="567365" y="709372"/>
                  </a:lnTo>
                  <a:lnTo>
                    <a:pt x="0" y="7093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17" r="-110416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567360" cy="7188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5"/>
                </a:lnSpc>
              </a:pPr>
              <a:r>
                <a:rPr lang="en-US" sz="3300" b="1" spc="-67">
                  <a:solidFill>
                    <a:srgbClr val="E0D6DE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2</a:t>
              </a:r>
              <a:endParaRPr lang="en-US" sz="3300" b="1" spc="-67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847999" y="4370794"/>
            <a:ext cx="4605699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Scale &amp; reliability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847999" y="4949333"/>
            <a:ext cx="4605699" cy="1892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Move to managed MongoDB clusters, add horizontal scaling for API layer, and integrate monitoring + alerting.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" name="Freeform 19" descr="preencoded.png"/>
          <p:cNvSpPr/>
          <p:nvPr/>
        </p:nvSpPr>
        <p:spPr>
          <a:xfrm>
            <a:off x="12059288" y="3216754"/>
            <a:ext cx="5249418" cy="3946579"/>
          </a:xfrm>
          <a:custGeom>
            <a:avLst/>
            <a:gdLst/>
            <a:ahLst/>
            <a:cxnLst/>
            <a:rect l="l" t="t" r="r" b="b"/>
            <a:pathLst>
              <a:path w="5249418" h="3946579">
                <a:moveTo>
                  <a:pt x="0" y="0"/>
                </a:moveTo>
                <a:lnTo>
                  <a:pt x="5249418" y="0"/>
                </a:lnTo>
                <a:lnTo>
                  <a:pt x="5249418" y="3946579"/>
                </a:lnTo>
                <a:lnTo>
                  <a:pt x="0" y="39465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20" b="-120"/>
            </a:stretch>
          </a:blipFill>
        </p:spPr>
      </p:sp>
      <p:grpSp>
        <p:nvGrpSpPr>
          <p:cNvPr id="20" name="Group 20"/>
          <p:cNvGrpSpPr/>
          <p:nvPr/>
        </p:nvGrpSpPr>
        <p:grpSpPr>
          <a:xfrm rot="0">
            <a:off x="14471237" y="3409636"/>
            <a:ext cx="425520" cy="532028"/>
            <a:chOff x="0" y="0"/>
            <a:chExt cx="567360" cy="70937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67365" cy="709372"/>
            </a:xfrm>
            <a:custGeom>
              <a:avLst/>
              <a:gdLst/>
              <a:ahLst/>
              <a:cxnLst/>
              <a:rect l="l" t="t" r="r" b="b"/>
              <a:pathLst>
                <a:path w="567365" h="709372">
                  <a:moveTo>
                    <a:pt x="0" y="0"/>
                  </a:moveTo>
                  <a:lnTo>
                    <a:pt x="567365" y="0"/>
                  </a:lnTo>
                  <a:lnTo>
                    <a:pt x="567365" y="709372"/>
                  </a:lnTo>
                  <a:lnTo>
                    <a:pt x="0" y="7093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17" r="-110416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567360" cy="7188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5"/>
                </a:lnSpc>
              </a:pPr>
              <a:r>
                <a:rPr lang="en-US" sz="3300" b="1" spc="-67">
                  <a:solidFill>
                    <a:srgbClr val="E0D6DE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3</a:t>
              </a:r>
              <a:endParaRPr lang="en-US" sz="3300" b="1" spc="-67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381147" y="4370794"/>
            <a:ext cx="4605699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Long-term features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381147" y="4949333"/>
            <a:ext cx="4605699" cy="1892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Personalized recommendations (activities, budgets) and marketplace integrations (bookings, insurance).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92991" y="7406326"/>
            <a:ext cx="16315868" cy="98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Final takeaway: TripForge demonstrates a focused MERN implementation solving a clear real-world need — rapid prototyping now, production-grade scaling next. 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-8039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165242" y="4221184"/>
            <a:ext cx="9775448" cy="926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5"/>
              </a:lnSpc>
            </a:pPr>
            <a:r>
              <a:rPr lang="en-US" sz="5855" b="1" spc="-117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Thank you</a:t>
            </a:r>
            <a:endParaRPr lang="en-US" sz="5855" b="1" spc="-117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3151</Words>
  <Application>WPS Presentation</Application>
  <PresentationFormat>On-screen Show (4:3)</PresentationFormat>
  <Paragraphs>108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Petrona Bold</vt:lpstr>
      <vt:lpstr>Inter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TripForge-MERN-Travel-Planner (1).pptx</dc:title>
  <dc:creator/>
  <cp:lastModifiedBy>Thodeti Sandeep</cp:lastModifiedBy>
  <cp:revision>2</cp:revision>
  <dcterms:created xsi:type="dcterms:W3CDTF">2006-08-16T00:00:00Z</dcterms:created>
  <dcterms:modified xsi:type="dcterms:W3CDTF">2026-10-10T05:48:56Z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FD4F969929804BC19FD9E8FD9A949350_13</vt:lpwstr>
  </property>
  <property fmtid="{D5CDD505-2E9C-101B-9397-08002B2CF9AE}" pid="3" name="KSOProductBuildVer">
    <vt:lpwstr>1033-12.1.0.28485</vt:lpwstr>
  </property>
</Properties>
</file>